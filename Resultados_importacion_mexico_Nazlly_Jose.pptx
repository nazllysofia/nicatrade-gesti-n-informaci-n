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Telegraf" panose="020B0604020202020204" charset="0"/>
      <p:regular r:id="rId7"/>
    </p:embeddedFont>
    <p:embeddedFont>
      <p:font typeface="Telegraf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39622" y="-3749144"/>
            <a:ext cx="9639356" cy="8229600"/>
          </a:xfrm>
          <a:custGeom>
            <a:avLst/>
            <a:gdLst/>
            <a:ahLst/>
            <a:cxnLst/>
            <a:rect l="l" t="t" r="r" b="b"/>
            <a:pathLst>
              <a:path w="9639356" h="8229600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790978" y="6172200"/>
            <a:ext cx="9639356" cy="8229600"/>
          </a:xfrm>
          <a:custGeom>
            <a:avLst/>
            <a:gdLst/>
            <a:ahLst/>
            <a:cxnLst/>
            <a:rect l="l" t="t" r="r" b="b"/>
            <a:pathLst>
              <a:path w="9639356" h="8229600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274726" cy="2234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610328" y="6348701"/>
            <a:ext cx="2546610" cy="2516186"/>
          </a:xfrm>
          <a:custGeom>
            <a:avLst/>
            <a:gdLst/>
            <a:ahLst/>
            <a:cxnLst/>
            <a:rect l="l" t="t" r="r" b="b"/>
            <a:pathLst>
              <a:path w="2546610" h="2516186">
                <a:moveTo>
                  <a:pt x="0" y="0"/>
                </a:moveTo>
                <a:lnTo>
                  <a:pt x="2546611" y="0"/>
                </a:lnTo>
                <a:lnTo>
                  <a:pt x="2546611" y="2516186"/>
                </a:lnTo>
                <a:lnTo>
                  <a:pt x="0" y="2516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96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225171"/>
            <a:ext cx="15709867" cy="325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24"/>
              </a:lnSpc>
              <a:spcBef>
                <a:spcPct val="0"/>
              </a:spcBef>
            </a:pPr>
            <a:r>
              <a:rPr lang="en-US" sz="9089" spc="808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NICATRADE INTERNATIONAL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88250" y="4681000"/>
            <a:ext cx="12711501" cy="177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8"/>
              </a:lnSpc>
              <a:spcBef>
                <a:spcPct val="0"/>
              </a:spcBef>
            </a:pPr>
            <a:r>
              <a:rPr lang="en-US" sz="2499" spc="2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OPERACIÓN DE IMPO</a:t>
            </a:r>
            <a:r>
              <a:rPr lang="en-US" sz="2499" u="none" strike="noStrike" spc="2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RTACIÓN</a:t>
            </a:r>
          </a:p>
          <a:p>
            <a:pPr marL="0" lvl="0" indent="0" algn="ctr">
              <a:lnSpc>
                <a:spcPts val="3498"/>
              </a:lnSpc>
              <a:spcBef>
                <a:spcPct val="0"/>
              </a:spcBef>
            </a:pPr>
            <a:r>
              <a:rPr lang="en-US" sz="2499" u="none" strike="noStrike" spc="2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MÉXICO → NICARAGUA</a:t>
            </a:r>
          </a:p>
          <a:p>
            <a:pPr marL="0" lvl="0" indent="0" algn="ctr">
              <a:lnSpc>
                <a:spcPts val="3498"/>
              </a:lnSpc>
              <a:spcBef>
                <a:spcPct val="0"/>
              </a:spcBef>
            </a:pPr>
            <a:r>
              <a:rPr lang="en-US" sz="2499" u="none" strike="noStrike" spc="2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GESTIÓN DIGITAL DE INFORMACIÓN</a:t>
            </a:r>
          </a:p>
          <a:p>
            <a:pPr marL="0" lvl="0" indent="0" algn="ctr">
              <a:lnSpc>
                <a:spcPts val="3498"/>
              </a:lnSpc>
              <a:spcBef>
                <a:spcPct val="0"/>
              </a:spcBef>
            </a:pPr>
            <a:endParaRPr lang="en-US" sz="2499" u="none" strike="noStrike" spc="222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8109" y="7966341"/>
            <a:ext cx="5339944" cy="89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 spc="2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José González </a:t>
            </a:r>
          </a:p>
          <a:p>
            <a:pPr marL="0" lvl="0" indent="0" algn="l">
              <a:lnSpc>
                <a:spcPts val="3498"/>
              </a:lnSpc>
              <a:spcBef>
                <a:spcPct val="0"/>
              </a:spcBef>
            </a:pPr>
            <a:r>
              <a:rPr lang="en-US" sz="2499" spc="2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Nazlly González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96911" y="7998080"/>
            <a:ext cx="5339944" cy="46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8"/>
              </a:lnSpc>
              <a:spcBef>
                <a:spcPct val="0"/>
              </a:spcBef>
            </a:pPr>
            <a:r>
              <a:rPr lang="en-US" sz="2499" spc="2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21 de septiembre del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97163" y="-4235768"/>
            <a:ext cx="9639356" cy="8229600"/>
          </a:xfrm>
          <a:custGeom>
            <a:avLst/>
            <a:gdLst/>
            <a:ahLst/>
            <a:cxnLst/>
            <a:rect l="l" t="t" r="r" b="b"/>
            <a:pathLst>
              <a:path w="9639356" h="8229600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85320" y="4311388"/>
            <a:ext cx="15448607" cy="13189248"/>
          </a:xfrm>
          <a:custGeom>
            <a:avLst/>
            <a:gdLst/>
            <a:ahLst/>
            <a:cxnLst/>
            <a:rect l="l" t="t" r="r" b="b"/>
            <a:pathLst>
              <a:path w="15448607" h="13189248">
                <a:moveTo>
                  <a:pt x="0" y="0"/>
                </a:moveTo>
                <a:lnTo>
                  <a:pt x="15448606" y="0"/>
                </a:lnTo>
                <a:lnTo>
                  <a:pt x="15448606" y="13189249"/>
                </a:lnTo>
                <a:lnTo>
                  <a:pt x="0" y="1318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792408" y="0"/>
            <a:ext cx="7495592" cy="869306"/>
            <a:chOff x="0" y="0"/>
            <a:chExt cx="1974148" cy="228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4148" cy="228953"/>
            </a:xfrm>
            <a:custGeom>
              <a:avLst/>
              <a:gdLst/>
              <a:ahLst/>
              <a:cxnLst/>
              <a:rect l="l" t="t" r="r" b="b"/>
              <a:pathLst>
                <a:path w="1974148" h="228953">
                  <a:moveTo>
                    <a:pt x="0" y="0"/>
                  </a:moveTo>
                  <a:lnTo>
                    <a:pt x="1974148" y="0"/>
                  </a:lnTo>
                  <a:lnTo>
                    <a:pt x="1974148" y="228953"/>
                  </a:lnTo>
                  <a:lnTo>
                    <a:pt x="0" y="228953"/>
                  </a:lnTo>
                  <a:close/>
                </a:path>
              </a:pathLst>
            </a:custGeom>
            <a:gradFill rotWithShape="1">
              <a:gsLst>
                <a:gs pos="0">
                  <a:srgbClr val="4892B7">
                    <a:alpha val="100000"/>
                  </a:srgbClr>
                </a:gs>
                <a:gs pos="100000">
                  <a:srgbClr val="90C7D4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1974148" cy="305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8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9431" y="528392"/>
            <a:ext cx="8770011" cy="85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2"/>
              </a:lnSpc>
              <a:spcBef>
                <a:spcPct val="0"/>
              </a:spcBef>
            </a:pPr>
            <a:r>
              <a:rPr lang="en-US" sz="4709" spc="4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EMPRESA Y OPERACIÓN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9431" y="1907795"/>
            <a:ext cx="7505524" cy="745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 b="1" spc="186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NicaTrad</a:t>
            </a:r>
            <a:r>
              <a:rPr lang="en-US" sz="2099" b="1" u="none" strike="noStrike" spc="186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e International</a:t>
            </a:r>
          </a:p>
          <a:p>
            <a:pPr algn="l">
              <a:lnSpc>
                <a:spcPts val="2938"/>
              </a:lnSpc>
            </a:pPr>
            <a:r>
              <a:rPr lang="en-US" sz="2099" u="none" strike="noStrike" spc="186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Empresa nicaragüense dedicada a la importación y exportación de alimentos y productos de consumo en Centroamérica.</a:t>
            </a:r>
          </a:p>
          <a:p>
            <a:pPr algn="l">
              <a:lnSpc>
                <a:spcPts val="2938"/>
              </a:lnSpc>
            </a:pPr>
            <a:endParaRPr lang="en-US" sz="2099" u="none" strike="noStrike" spc="186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2938"/>
              </a:lnSpc>
            </a:pPr>
            <a:r>
              <a:rPr lang="en-US" sz="2099" b="1" u="none" strike="noStrike" spc="186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Operación analizada</a:t>
            </a:r>
          </a:p>
          <a:p>
            <a:pPr algn="l">
              <a:lnSpc>
                <a:spcPts val="2938"/>
              </a:lnSpc>
            </a:pPr>
            <a:r>
              <a:rPr lang="en-US" sz="2099" u="none" strike="noStrike" spc="186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Importación de productos desde México hacia Nicaragua.</a:t>
            </a:r>
          </a:p>
          <a:p>
            <a:pPr algn="l">
              <a:lnSpc>
                <a:spcPts val="2938"/>
              </a:lnSpc>
            </a:pPr>
            <a:endParaRPr lang="en-US" sz="2099" u="none" strike="noStrike" spc="186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2938"/>
              </a:lnSpc>
            </a:pPr>
            <a:r>
              <a:rPr lang="en-US" sz="2099" b="1" u="none" strike="noStrike" spc="186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Origen y destino</a:t>
            </a:r>
          </a:p>
          <a:p>
            <a:pPr algn="l">
              <a:lnSpc>
                <a:spcPts val="2938"/>
              </a:lnSpc>
            </a:pPr>
            <a:r>
              <a:rPr lang="en-US" sz="2099" u="none" strike="noStrike" spc="186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México → Nicaragua</a:t>
            </a:r>
          </a:p>
          <a:p>
            <a:pPr algn="l">
              <a:lnSpc>
                <a:spcPts val="2938"/>
              </a:lnSpc>
            </a:pPr>
            <a:endParaRPr lang="en-US" sz="2099" u="none" strike="noStrike" spc="186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2938"/>
              </a:lnSpc>
            </a:pPr>
            <a:r>
              <a:rPr lang="en-US" sz="2099" b="1" u="none" strike="noStrike" spc="186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Productos importados</a:t>
            </a:r>
          </a:p>
          <a:p>
            <a:pPr algn="l">
              <a:lnSpc>
                <a:spcPts val="2938"/>
              </a:lnSpc>
            </a:pPr>
            <a:r>
              <a:rPr lang="en-US" sz="2099" u="none" strike="noStrike" spc="186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Alimentos, bebidas, productos de limpieza, hogar, oficina, tecnología y accesorios.</a:t>
            </a:r>
          </a:p>
          <a:p>
            <a:pPr algn="l">
              <a:lnSpc>
                <a:spcPts val="2938"/>
              </a:lnSpc>
            </a:pPr>
            <a:endParaRPr lang="en-US" sz="2099" u="none" strike="noStrike" spc="186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2938"/>
              </a:lnSpc>
            </a:pPr>
            <a:r>
              <a:rPr lang="en-US" sz="2099" b="1" u="none" strike="noStrike" spc="186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Objetivo</a:t>
            </a:r>
          </a:p>
          <a:p>
            <a:pPr algn="l">
              <a:lnSpc>
                <a:spcPts val="2938"/>
              </a:lnSpc>
            </a:pPr>
            <a:r>
              <a:rPr lang="en-US" sz="2099" u="none" strike="noStrike" spc="186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Organizar y analizar la información de la operación para facilitar la toma de decisiones comerciales.</a:t>
            </a:r>
          </a:p>
          <a:p>
            <a:pPr algn="l">
              <a:lnSpc>
                <a:spcPts val="2938"/>
              </a:lnSpc>
            </a:pPr>
            <a:endParaRPr lang="en-US" sz="2099" u="none" strike="noStrike" spc="186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792408" y="869306"/>
            <a:ext cx="7495592" cy="9457798"/>
            <a:chOff x="0" y="0"/>
            <a:chExt cx="1410343" cy="17795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10343" cy="1779544"/>
            </a:xfrm>
            <a:custGeom>
              <a:avLst/>
              <a:gdLst/>
              <a:ahLst/>
              <a:cxnLst/>
              <a:rect l="l" t="t" r="r" b="b"/>
              <a:pathLst>
                <a:path w="1410343" h="1779544">
                  <a:moveTo>
                    <a:pt x="0" y="0"/>
                  </a:moveTo>
                  <a:lnTo>
                    <a:pt x="1410343" y="0"/>
                  </a:lnTo>
                  <a:lnTo>
                    <a:pt x="1410343" y="1779544"/>
                  </a:lnTo>
                  <a:lnTo>
                    <a:pt x="0" y="1779544"/>
                  </a:lnTo>
                  <a:close/>
                </a:path>
              </a:pathLst>
            </a:custGeom>
            <a:blipFill>
              <a:blip r:embed="rId3"/>
              <a:stretch>
                <a:fillRect l="-58187" r="-1005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2734" y="881749"/>
            <a:ext cx="10942532" cy="85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2"/>
              </a:lnSpc>
              <a:spcBef>
                <a:spcPct val="0"/>
              </a:spcBef>
            </a:pPr>
            <a:r>
              <a:rPr lang="en-US" sz="4709" spc="4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RESULTADOS DE LA OPERACIÓN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89737" y="1828941"/>
            <a:ext cx="7507263" cy="445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727"/>
              </a:lnSpc>
              <a:spcBef>
                <a:spcPct val="0"/>
              </a:spcBef>
            </a:pPr>
            <a:r>
              <a:rPr lang="en-US" sz="2662" spc="236" dirty="0" err="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Pr</a:t>
            </a:r>
            <a:r>
              <a:rPr lang="en-US" sz="2662" u="none" strike="noStrike" spc="236" dirty="0" err="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incipales</a:t>
            </a:r>
            <a:r>
              <a:rPr lang="en-US" sz="2662" u="none" strike="noStrike" spc="236" dirty="0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62" u="none" strike="noStrike" spc="236" dirty="0" err="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datos</a:t>
            </a:r>
            <a:r>
              <a:rPr lang="en-US" sz="2662" u="none" strike="noStrike" spc="236" dirty="0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62" u="none" strike="noStrike" spc="236" dirty="0" err="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obtenidos</a:t>
            </a:r>
            <a:endParaRPr lang="en-US" sz="2662" u="none" strike="noStrike" spc="236" dirty="0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74151" y="2490660"/>
            <a:ext cx="14520475" cy="7057832"/>
            <a:chOff x="0" y="0"/>
            <a:chExt cx="3361635" cy="16339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61635" cy="1633959"/>
            </a:xfrm>
            <a:custGeom>
              <a:avLst/>
              <a:gdLst/>
              <a:ahLst/>
              <a:cxnLst/>
              <a:rect l="l" t="t" r="r" b="b"/>
              <a:pathLst>
                <a:path w="3361635" h="1633959">
                  <a:moveTo>
                    <a:pt x="0" y="0"/>
                  </a:moveTo>
                  <a:lnTo>
                    <a:pt x="3361635" y="0"/>
                  </a:lnTo>
                  <a:lnTo>
                    <a:pt x="3361635" y="1633959"/>
                  </a:lnTo>
                  <a:lnTo>
                    <a:pt x="0" y="1633959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3361635" cy="1700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334587" y="5143500"/>
            <a:ext cx="9715544" cy="8294646"/>
          </a:xfrm>
          <a:custGeom>
            <a:avLst/>
            <a:gdLst/>
            <a:ahLst/>
            <a:cxnLst/>
            <a:rect l="l" t="t" r="r" b="b"/>
            <a:pathLst>
              <a:path w="9715544" h="8294646">
                <a:moveTo>
                  <a:pt x="0" y="0"/>
                </a:moveTo>
                <a:lnTo>
                  <a:pt x="9715544" y="0"/>
                </a:lnTo>
                <a:lnTo>
                  <a:pt x="9715544" y="8294646"/>
                </a:lnTo>
                <a:lnTo>
                  <a:pt x="0" y="8294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526848" y="-4274793"/>
            <a:ext cx="11612174" cy="9913894"/>
          </a:xfrm>
          <a:custGeom>
            <a:avLst/>
            <a:gdLst/>
            <a:ahLst/>
            <a:cxnLst/>
            <a:rect l="l" t="t" r="r" b="b"/>
            <a:pathLst>
              <a:path w="11612174" h="9913894">
                <a:moveTo>
                  <a:pt x="0" y="0"/>
                </a:moveTo>
                <a:lnTo>
                  <a:pt x="11612174" y="0"/>
                </a:lnTo>
                <a:lnTo>
                  <a:pt x="11612174" y="9913894"/>
                </a:lnTo>
                <a:lnTo>
                  <a:pt x="0" y="9913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29223" y="2515078"/>
            <a:ext cx="12029554" cy="703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b="1" spc="219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</a:t>
            </a:r>
            <a:r>
              <a:rPr lang="en-US" sz="2468" b="1" u="none" strike="noStrike" spc="219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orte total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US$40,359.00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b="1" u="none" strike="noStrike" spc="219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Precio promedio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US$7.74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b="1" u="none" strike="noStrike" spc="219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Cantidad de productos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50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b="1" u="none" strike="noStrike" spc="219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Importe de productos de México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US$36,919.50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b="1" u="none" strike="noStrike" spc="219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Producto con mayor importe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Mochilas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US$1,912.50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85 unidades × US$22.50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b="1" u="none" strike="noStrike" spc="219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Clasificación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Importe Alto: 11 productos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r>
              <a:rPr lang="en-US" sz="2468" u="none" strike="noStrike" spc="2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Importe Normal: 39 productos</a:t>
            </a:r>
          </a:p>
          <a:p>
            <a:pPr marL="0" lvl="0" indent="0" algn="ctr">
              <a:lnSpc>
                <a:spcPts val="3456"/>
              </a:lnSpc>
              <a:spcBef>
                <a:spcPct val="0"/>
              </a:spcBef>
            </a:pPr>
            <a:endParaRPr lang="en-US" sz="2468" u="none" strike="noStrike" spc="219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53213" y="-4439713"/>
            <a:ext cx="11612174" cy="9913894"/>
          </a:xfrm>
          <a:custGeom>
            <a:avLst/>
            <a:gdLst/>
            <a:ahLst/>
            <a:cxnLst/>
            <a:rect l="l" t="t" r="r" b="b"/>
            <a:pathLst>
              <a:path w="11612174" h="9913894">
                <a:moveTo>
                  <a:pt x="0" y="0"/>
                </a:moveTo>
                <a:lnTo>
                  <a:pt x="11612174" y="0"/>
                </a:lnTo>
                <a:lnTo>
                  <a:pt x="11612174" y="9913894"/>
                </a:lnTo>
                <a:lnTo>
                  <a:pt x="0" y="9913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27517" y="5837772"/>
            <a:ext cx="11612174" cy="9913894"/>
          </a:xfrm>
          <a:custGeom>
            <a:avLst/>
            <a:gdLst/>
            <a:ahLst/>
            <a:cxnLst/>
            <a:rect l="l" t="t" r="r" b="b"/>
            <a:pathLst>
              <a:path w="11612174" h="9913894">
                <a:moveTo>
                  <a:pt x="0" y="0"/>
                </a:moveTo>
                <a:lnTo>
                  <a:pt x="11612174" y="0"/>
                </a:lnTo>
                <a:lnTo>
                  <a:pt x="11612174" y="9913894"/>
                </a:lnTo>
                <a:lnTo>
                  <a:pt x="0" y="9913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18876" y="1184798"/>
            <a:ext cx="11050249" cy="85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2"/>
              </a:lnSpc>
              <a:spcBef>
                <a:spcPct val="0"/>
              </a:spcBef>
            </a:pPr>
            <a:r>
              <a:rPr lang="en-US" sz="4709" spc="419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CONCLUSIONES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35050" y="2214736"/>
            <a:ext cx="11217899" cy="689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b="1" spc="181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Analiza</a:t>
            </a:r>
            <a:r>
              <a:rPr lang="en-US" sz="2040" b="1" u="none" strike="noStrike" spc="181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u="none" strike="noStrike" spc="18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Permite conocer el valor de la operación e identificar los productos de mayor importe.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endParaRPr lang="en-US" sz="2040" u="none" strike="noStrike" spc="181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b="1" u="none" strike="noStrike" spc="181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Organizar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u="none" strike="noStrike" spc="18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La información estructurada facilita localizar y revisar los datos comerciales.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endParaRPr lang="en-US" sz="2040" u="none" strike="noStrike" spc="181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b="1" u="none" strike="noStrike" spc="181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Comunicar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u="none" strike="noStrike" spc="18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Word y PowerPoint permiten presentar los resultados de manera clara y ordenada.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endParaRPr lang="en-US" sz="2040" u="none" strike="noStrike" spc="181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b="1" u="none" strike="noStrike" spc="181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Colaborar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u="none" strike="noStrike" spc="18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Google Drive y GitHub apoyan el almacenamiento, acceso y registro de cambios.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endParaRPr lang="en-US" sz="2040" u="none" strike="noStrike" spc="181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b="1" u="none" strike="noStrike" spc="181">
                <a:solidFill>
                  <a:srgbClr val="2A2929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Conclusión final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r>
              <a:rPr lang="en-US" sz="2040" u="none" strike="noStrike" spc="181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Una adecuada gestión digital convierte los datos de la operación en información útil para la empresa.</a:t>
            </a:r>
          </a:p>
          <a:p>
            <a:pPr marL="0" lvl="0" indent="0" algn="ctr">
              <a:lnSpc>
                <a:spcPts val="2856"/>
              </a:lnSpc>
              <a:spcBef>
                <a:spcPct val="0"/>
              </a:spcBef>
            </a:pPr>
            <a:endParaRPr lang="en-US" sz="2040" u="none" strike="noStrike" spc="181">
              <a:solidFill>
                <a:srgbClr val="2A2929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86555" y="-4087133"/>
            <a:ext cx="15313208" cy="13073651"/>
          </a:xfrm>
          <a:custGeom>
            <a:avLst/>
            <a:gdLst/>
            <a:ahLst/>
            <a:cxnLst/>
            <a:rect l="l" t="t" r="r" b="b"/>
            <a:pathLst>
              <a:path w="15313208" h="13073651">
                <a:moveTo>
                  <a:pt x="0" y="0"/>
                </a:moveTo>
                <a:lnTo>
                  <a:pt x="15313208" y="0"/>
                </a:lnTo>
                <a:lnTo>
                  <a:pt x="15313208" y="13073651"/>
                </a:lnTo>
                <a:lnTo>
                  <a:pt x="0" y="13073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021092" y="3425402"/>
            <a:ext cx="13664183" cy="11665796"/>
          </a:xfrm>
          <a:custGeom>
            <a:avLst/>
            <a:gdLst/>
            <a:ahLst/>
            <a:cxnLst/>
            <a:rect l="l" t="t" r="r" b="b"/>
            <a:pathLst>
              <a:path w="13664183" h="11665796">
                <a:moveTo>
                  <a:pt x="0" y="0"/>
                </a:moveTo>
                <a:lnTo>
                  <a:pt x="13664182" y="0"/>
                </a:lnTo>
                <a:lnTo>
                  <a:pt x="13664182" y="11665796"/>
                </a:lnTo>
                <a:lnTo>
                  <a:pt x="0" y="11665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36314" y="2085167"/>
            <a:ext cx="13920635" cy="6116665"/>
            <a:chOff x="0" y="0"/>
            <a:chExt cx="3222766" cy="14160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22766" cy="1416069"/>
            </a:xfrm>
            <a:custGeom>
              <a:avLst/>
              <a:gdLst/>
              <a:ahLst/>
              <a:cxnLst/>
              <a:rect l="l" t="t" r="r" b="b"/>
              <a:pathLst>
                <a:path w="3222766" h="1416069">
                  <a:moveTo>
                    <a:pt x="0" y="0"/>
                  </a:moveTo>
                  <a:lnTo>
                    <a:pt x="3222766" y="0"/>
                  </a:lnTo>
                  <a:lnTo>
                    <a:pt x="3222766" y="1416069"/>
                  </a:lnTo>
                  <a:lnTo>
                    <a:pt x="0" y="1416069"/>
                  </a:lnTo>
                  <a:close/>
                </a:path>
              </a:pathLst>
            </a:custGeom>
            <a:solidFill>
              <a:srgbClr val="E7E9E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3222766" cy="1482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01017" y="3187277"/>
            <a:ext cx="10191228" cy="2908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8"/>
              </a:lnSpc>
              <a:spcBef>
                <a:spcPct val="0"/>
              </a:spcBef>
            </a:pPr>
            <a:r>
              <a:rPr lang="en-US" sz="8113" spc="722">
                <a:solidFill>
                  <a:srgbClr val="2A2929"/>
                </a:solidFill>
                <a:latin typeface="Telegraf"/>
                <a:ea typeface="Telegraf"/>
                <a:cs typeface="Telegraf"/>
                <a:sym typeface="Telegraf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Personalizado</PresentationFormat>
  <Paragraphs>55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Telegraf</vt:lpstr>
      <vt:lpstr>Calibri</vt:lpstr>
      <vt:lpstr>Telegraf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Resultados_importacion_mexico</dc:title>
  <cp:lastModifiedBy>Nazlly Sofia</cp:lastModifiedBy>
  <cp:revision>2</cp:revision>
  <dcterms:created xsi:type="dcterms:W3CDTF">2006-08-16T00:00:00Z</dcterms:created>
  <dcterms:modified xsi:type="dcterms:W3CDTF">2026-09-22T13:59:39Z</dcterms:modified>
  <dc:identifier>DAHVzV8mOJs</dc:identifier>
</cp:coreProperties>
</file>